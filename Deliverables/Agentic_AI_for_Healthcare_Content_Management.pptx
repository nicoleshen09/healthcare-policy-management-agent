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9144000" cy="16256000"/>
  <p:embeddedFontLst>
    <p:embeddedFont>
      <p:font typeface="LANTINGHEI SC DEMIBOLD" panose="02000000000000000000" pitchFamily="2" charset="-122"/>
      <p:regular r:id="rId11"/>
      <p:bold r:id="rId12"/>
    </p:embeddedFont>
    <p:embeddedFont>
      <p:font typeface="Quattrocento Sans" panose="020B05020500000200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74"/>
    <p:restoredTop sz="94610"/>
  </p:normalViewPr>
  <p:slideViewPr>
    <p:cSldViewPr snapToGrid="0" snapToObjects="1">
      <p:cViewPr>
        <p:scale>
          <a:sx n="107" d="100"/>
          <a:sy n="107" d="100"/>
        </p:scale>
        <p:origin x="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1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newsroom/fact-sheets/fiscal-year-2024-improper-payments-fact-she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ealthcare-policy-management-agent.streamlit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icoleshen09/healthcare-policy-management-ag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i7rydh3zb57c/mnt/agents/output/healthcare_ai/images/2_Abstract_Neural_Network_Web_on_Dark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A1A2E">
                  <a:alpha val="94000"/>
                </a:srgbClr>
              </a:gs>
              <a:gs pos="50000">
                <a:srgbClr val="1A1A2E">
                  <a:alpha val="82000"/>
                </a:srgbClr>
              </a:gs>
              <a:gs pos="100000">
                <a:srgbClr val="1A1A2E">
                  <a:alpha val="6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777999" y="3048000"/>
            <a:ext cx="12758271" cy="152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 FOR HEALTHCARE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MANAGEMENT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48000" y="4826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Policy Interpretation to Auditable Rule Generation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0" y="5588000"/>
            <a:ext cx="2540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18000" y="596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Yue Shen</a:t>
            </a:r>
            <a:r>
              <a:rPr lang="zh-CN" alt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altLang="zh-CN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(Nicole)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Chicago · 07/07/2026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23200" y="711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28468"/>
                </a:moveTo>
                <a:lnTo>
                  <a:pt x="286941" y="103703"/>
                </a:lnTo>
                <a:cubicBezTo>
                  <a:pt x="257175" y="62508"/>
                  <a:pt x="209431" y="38100"/>
                  <a:pt x="158472" y="38100"/>
                </a:cubicBezTo>
                <a:cubicBezTo>
                  <a:pt x="70961" y="38100"/>
                  <a:pt x="0" y="109061"/>
                  <a:pt x="0" y="196572"/>
                </a:cubicBezTo>
                <a:lnTo>
                  <a:pt x="0" y="199668"/>
                </a:lnTo>
                <a:cubicBezTo>
                  <a:pt x="0" y="227767"/>
                  <a:pt x="7382" y="256818"/>
                  <a:pt x="19764" y="285750"/>
                </a:cubicBezTo>
                <a:lnTo>
                  <a:pt x="145971" y="285750"/>
                </a:lnTo>
                <a:cubicBezTo>
                  <a:pt x="149781" y="285750"/>
                  <a:pt x="153233" y="283488"/>
                  <a:pt x="154781" y="279916"/>
                </a:cubicBezTo>
                <a:lnTo>
                  <a:pt x="192643" y="189071"/>
                </a:lnTo>
                <a:cubicBezTo>
                  <a:pt x="197048" y="178594"/>
                  <a:pt x="207288" y="171688"/>
                  <a:pt x="218599" y="171450"/>
                </a:cubicBezTo>
                <a:cubicBezTo>
                  <a:pt x="229910" y="171212"/>
                  <a:pt x="240387" y="177879"/>
                  <a:pt x="245031" y="188238"/>
                </a:cubicBezTo>
                <a:lnTo>
                  <a:pt x="306110" y="323850"/>
                </a:lnTo>
                <a:lnTo>
                  <a:pt x="355402" y="225266"/>
                </a:lnTo>
                <a:cubicBezTo>
                  <a:pt x="360283" y="215622"/>
                  <a:pt x="370165" y="209431"/>
                  <a:pt x="381000" y="209431"/>
                </a:cubicBezTo>
                <a:cubicBezTo>
                  <a:pt x="391835" y="209431"/>
                  <a:pt x="401717" y="215503"/>
                  <a:pt x="406598" y="225266"/>
                </a:cubicBezTo>
                <a:lnTo>
                  <a:pt x="434221" y="280392"/>
                </a:lnTo>
                <a:cubicBezTo>
                  <a:pt x="435888" y="283607"/>
                  <a:pt x="439103" y="285631"/>
                  <a:pt x="442793" y="285631"/>
                </a:cubicBezTo>
                <a:lnTo>
                  <a:pt x="589955" y="285631"/>
                </a:lnTo>
                <a:cubicBezTo>
                  <a:pt x="602456" y="256699"/>
                  <a:pt x="609719" y="227648"/>
                  <a:pt x="609719" y="199549"/>
                </a:cubicBezTo>
                <a:lnTo>
                  <a:pt x="609719" y="196453"/>
                </a:lnTo>
                <a:cubicBezTo>
                  <a:pt x="609600" y="109061"/>
                  <a:pt x="538639" y="38100"/>
                  <a:pt x="451128" y="38100"/>
                </a:cubicBezTo>
                <a:cubicBezTo>
                  <a:pt x="400288" y="38100"/>
                  <a:pt x="352425" y="62508"/>
                  <a:pt x="322659" y="103703"/>
                </a:cubicBezTo>
                <a:lnTo>
                  <a:pt x="304800" y="128349"/>
                </a:lnTo>
                <a:close/>
                <a:moveTo>
                  <a:pt x="559118" y="342900"/>
                </a:moveTo>
                <a:lnTo>
                  <a:pt x="442674" y="342900"/>
                </a:lnTo>
                <a:cubicBezTo>
                  <a:pt x="417433" y="342900"/>
                  <a:pt x="394335" y="328613"/>
                  <a:pt x="383024" y="305991"/>
                </a:cubicBezTo>
                <a:lnTo>
                  <a:pt x="381000" y="301943"/>
                </a:lnTo>
                <a:lnTo>
                  <a:pt x="330398" y="403265"/>
                </a:lnTo>
                <a:cubicBezTo>
                  <a:pt x="325517" y="413147"/>
                  <a:pt x="315278" y="419338"/>
                  <a:pt x="304205" y="419100"/>
                </a:cubicBezTo>
                <a:cubicBezTo>
                  <a:pt x="293132" y="418862"/>
                  <a:pt x="283250" y="412313"/>
                  <a:pt x="278725" y="402312"/>
                </a:cubicBezTo>
                <a:lnTo>
                  <a:pt x="220028" y="271939"/>
                </a:lnTo>
                <a:lnTo>
                  <a:pt x="207526" y="301942"/>
                </a:lnTo>
                <a:cubicBezTo>
                  <a:pt x="197168" y="326827"/>
                  <a:pt x="172879" y="343019"/>
                  <a:pt x="145971" y="343019"/>
                </a:cubicBezTo>
                <a:lnTo>
                  <a:pt x="50483" y="343019"/>
                </a:lnTo>
                <a:cubicBezTo>
                  <a:pt x="106680" y="430887"/>
                  <a:pt x="196929" y="511731"/>
                  <a:pt x="253365" y="554831"/>
                </a:cubicBezTo>
                <a:cubicBezTo>
                  <a:pt x="268129" y="566023"/>
                  <a:pt x="286226" y="571619"/>
                  <a:pt x="304681" y="571619"/>
                </a:cubicBezTo>
                <a:cubicBezTo>
                  <a:pt x="323136" y="571619"/>
                  <a:pt x="341352" y="566142"/>
                  <a:pt x="355997" y="554831"/>
                </a:cubicBezTo>
                <a:cubicBezTo>
                  <a:pt x="412671" y="511612"/>
                  <a:pt x="502920" y="430768"/>
                  <a:pt x="559118" y="342900"/>
                </a:cubicBezTo>
                <a:close/>
              </a:path>
            </a:pathLst>
          </a:cu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1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850901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447801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739902"/>
            <a:ext cx="8287871" cy="6857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/>
              <a:t>Healthcare policy</a:t>
            </a:r>
            <a:r>
              <a:rPr lang="en-US" sz="2000" dirty="0"/>
              <a:t> (coding rules, coverage policies, clinical guidelines) is: </a:t>
            </a:r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</a:rPr>
              <a:t>High-volume and constantly changing</a:t>
            </a:r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in natural language</a:t>
            </a:r>
            <a:endParaRPr lang="en-US" sz="2000" dirty="0"/>
          </a:p>
          <a:p>
            <a:pPr marL="317500" indent="-31750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Difficult to translate into executable rules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Yet payers need </a:t>
            </a:r>
            <a:r>
              <a:rPr lang="en-US" sz="20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precise, auditable rules</a:t>
            </a: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process claims correctly and avoid payment errors.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</a:rPr>
              <a:t>Today, policy-to-rule translation relies primarily on manual work: </a:t>
            </a:r>
            <a:r>
              <a:rPr lang="en-US" sz="2000" b="1" dirty="0">
                <a:solidFill>
                  <a:srgbClr val="1E1E1E"/>
                </a:solidFill>
                <a:latin typeface="Quattrocento Sans" pitchFamily="34" charset="0"/>
              </a:rPr>
              <a:t>slow, expensive, and error-prone.</a:t>
            </a:r>
          </a:p>
        </p:txBody>
      </p:sp>
      <p:sp>
        <p:nvSpPr>
          <p:cNvPr id="14" name="Text 12"/>
          <p:cNvSpPr/>
          <p:nvPr/>
        </p:nvSpPr>
        <p:spPr>
          <a:xfrm>
            <a:off x="9906000" y="18415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600" b="1" dirty="0">
                <a:solidFill>
                  <a:srgbClr val="C75B12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  <a:cs typeface="AL BAYAN PLAIN" pitchFamily="2" charset="-78"/>
              </a:rPr>
              <a:t>$31.7B</a:t>
            </a:r>
            <a:endParaRPr lang="en-US" sz="5600" dirty="0">
              <a:latin typeface="LANTINGHEI SC DEMIBOLD" panose="02000000000000000000" pitchFamily="2" charset="-122"/>
              <a:ea typeface="LANTINGHEI SC DEMIBOLD" panose="02000000000000000000" pitchFamily="2" charset="-122"/>
              <a:cs typeface="Al Bayan Plain" pitchFamily="2" charset="-7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06000" y="2794000"/>
            <a:ext cx="533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Medicare FFS Improper Payments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FY2024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14000" y="3937000"/>
            <a:ext cx="4318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0" y="41275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Insufficient documentation is the </a:t>
            </a:r>
            <a:r>
              <a:rPr lang="en-US" altLang="zh-CN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leading</a:t>
            </a:r>
            <a:r>
              <a:rPr lang="zh-CN" alt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636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</a:t>
            </a:r>
            <a:r>
              <a:rPr lang="en-US" sz="1400" u="sng" dirty="0">
                <a:solidFill>
                  <a:srgbClr val="6B6B6B"/>
                </a:solidFill>
                <a:uFill>
                  <a:solidFill>
                    <a:srgbClr val="6B6B6B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CMS Fiscal Year 2024 Improper Payments Fact Sheet</a:t>
            </a:r>
            <a:endParaRPr lang="en-US" sz="1400" dirty="0"/>
          </a:p>
        </p:txBody>
      </p:sp>
      <p:pic>
        <p:nvPicPr>
          <p:cNvPr id="23" name="Graphic 22" descr="Transfer1 outline">
            <a:extLst>
              <a:ext uri="{FF2B5EF4-FFF2-40B4-BE49-F238E27FC236}">
                <a16:creationId xmlns:a16="http://schemas.microsoft.com/office/drawing/2014/main" id="{15307484-F777-7CA3-C2EC-91E381C3F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0" y="5079999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13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EVOLUTION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87500"/>
            <a:ext cx="4699000" cy="5334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87500"/>
            <a:ext cx="4699000" cy="63500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00" y="1587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30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3175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reads and interprets policy manually</a:t>
            </a:r>
            <a:endParaRPr lang="en-US" sz="1800" dirty="0">
              <a:solidFill>
                <a:srgbClr val="6B6B6B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ctr">
              <a:lnSpc>
                <a:spcPct val="160000"/>
              </a:lnSpc>
            </a:pPr>
            <a:r>
              <a:rPr lang="en-US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Slow</a:t>
            </a: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labor-intensive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Inconsistent coverage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dirty="0">
                <a:solidFill>
                  <a:srgbClr val="6B6B6B"/>
                </a:solidFill>
                <a:latin typeface="Quattrocento Sans" pitchFamily="34" charset="0"/>
              </a:rPr>
              <a:t>• Hard to scale</a:t>
            </a:r>
          </a:p>
        </p:txBody>
      </p:sp>
      <p:sp>
        <p:nvSpPr>
          <p:cNvPr id="17" name="Shape 15"/>
          <p:cNvSpPr/>
          <p:nvPr/>
        </p:nvSpPr>
        <p:spPr>
          <a:xfrm>
            <a:off x="5778500" y="1587500"/>
            <a:ext cx="4699000" cy="5334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8500" y="1587500"/>
            <a:ext cx="4699000" cy="63500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78500" y="1587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GENAI QA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470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42875"/>
                </a:moveTo>
                <a:cubicBezTo>
                  <a:pt x="338667" y="239316"/>
                  <a:pt x="262819" y="317500"/>
                  <a:pt x="169333" y="317500"/>
                </a:cubicBezTo>
                <a:cubicBezTo>
                  <a:pt x="145785" y="317500"/>
                  <a:pt x="123384" y="312539"/>
                  <a:pt x="103011" y="303609"/>
                </a:cubicBezTo>
                <a:lnTo>
                  <a:pt x="31044" y="346472"/>
                </a:lnTo>
                <a:cubicBezTo>
                  <a:pt x="22842" y="351334"/>
                  <a:pt x="12788" y="349647"/>
                  <a:pt x="6174" y="342305"/>
                </a:cubicBezTo>
                <a:cubicBezTo>
                  <a:pt x="-441" y="334963"/>
                  <a:pt x="-1940" y="323552"/>
                  <a:pt x="2469" y="314325"/>
                </a:cubicBezTo>
                <a:lnTo>
                  <a:pt x="33867" y="247650"/>
                </a:lnTo>
                <a:cubicBezTo>
                  <a:pt x="12612" y="218480"/>
                  <a:pt x="0" y="182166"/>
                  <a:pt x="0" y="142875"/>
                </a:cubicBezTo>
                <a:cubicBezTo>
                  <a:pt x="0" y="46434"/>
                  <a:pt x="75847" y="-31750"/>
                  <a:pt x="169333" y="-31750"/>
                </a:cubicBezTo>
                <a:cubicBezTo>
                  <a:pt x="262819" y="-31750"/>
                  <a:pt x="338667" y="46434"/>
                  <a:pt x="338667" y="142875"/>
                </a:cubicBezTo>
                <a:close/>
                <a:moveTo>
                  <a:pt x="338667" y="508000"/>
                </a:moveTo>
                <a:cubicBezTo>
                  <a:pt x="255676" y="508000"/>
                  <a:pt x="186619" y="446385"/>
                  <a:pt x="172156" y="365125"/>
                </a:cubicBezTo>
                <a:cubicBezTo>
                  <a:pt x="277989" y="363637"/>
                  <a:pt x="369976" y="278904"/>
                  <a:pt x="380118" y="164009"/>
                </a:cubicBezTo>
                <a:cubicBezTo>
                  <a:pt x="453584" y="183059"/>
                  <a:pt x="508000" y="251619"/>
                  <a:pt x="508000" y="333375"/>
                </a:cubicBezTo>
                <a:cubicBezTo>
                  <a:pt x="508000" y="372666"/>
                  <a:pt x="495388" y="408980"/>
                  <a:pt x="474133" y="438150"/>
                </a:cubicBezTo>
                <a:lnTo>
                  <a:pt x="505531" y="504825"/>
                </a:lnTo>
                <a:cubicBezTo>
                  <a:pt x="509852" y="514052"/>
                  <a:pt x="508353" y="525363"/>
                  <a:pt x="501826" y="532805"/>
                </a:cubicBezTo>
                <a:cubicBezTo>
                  <a:pt x="495300" y="540246"/>
                  <a:pt x="485158" y="541933"/>
                  <a:pt x="476956" y="536972"/>
                </a:cubicBezTo>
                <a:lnTo>
                  <a:pt x="404989" y="494109"/>
                </a:lnTo>
                <a:cubicBezTo>
                  <a:pt x="384616" y="503039"/>
                  <a:pt x="362215" y="508000"/>
                  <a:pt x="338667" y="50800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2500" y="3175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rgbClr val="1E1E1E"/>
                </a:solidFill>
                <a:latin typeface="Quattrocento Sans" pitchFamily="34" charset="0"/>
              </a:rPr>
              <a:t>Analyst</a:t>
            </a:r>
            <a:r>
              <a:rPr lang="en-US" dirty="0">
                <a:solidFill>
                  <a:srgbClr val="1E1E1E"/>
                </a:solidFill>
                <a:latin typeface="Quattrocento Sans" pitchFamily="34" charset="0"/>
              </a:rPr>
              <a:t> asks questions about policy via </a:t>
            </a:r>
            <a:r>
              <a:rPr lang="en-US" b="1" dirty="0">
                <a:solidFill>
                  <a:srgbClr val="1E1E1E"/>
                </a:solidFill>
                <a:latin typeface="Quattrocento Sans" pitchFamily="34" charset="0"/>
              </a:rPr>
              <a:t>LLM</a:t>
            </a:r>
            <a:r>
              <a:rPr lang="en-US" dirty="0">
                <a:solidFill>
                  <a:srgbClr val="1E1E1E"/>
                </a:solidFill>
                <a:latin typeface="Quattrocento Sans" pitchFamily="34" charset="0"/>
              </a:rPr>
              <a:t> </a:t>
            </a:r>
          </a:p>
          <a:p>
            <a:pPr algn="ctr">
              <a:lnSpc>
                <a:spcPct val="160000"/>
              </a:lnSpc>
            </a:pPr>
            <a:r>
              <a:rPr lang="en-US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Faster access to answers </a:t>
            </a: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altLang="zh-CN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</a:t>
            </a:r>
            <a:r>
              <a:rPr lang="zh-CN" alt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Q&amp;A, not structured </a:t>
            </a: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altLang="zh-CN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r>
              <a:rPr lang="zh-CN" alt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actionable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95000" y="1587500"/>
            <a:ext cx="4699000" cy="5334000"/>
          </a:xfrm>
          <a:prstGeom prst="rect">
            <a:avLst/>
          </a:prstGeom>
          <a:solidFill>
            <a:srgbClr val="C75B12">
              <a:alpha val="3137"/>
            </a:srgbClr>
          </a:solidFill>
          <a:ln w="12700">
            <a:solidFill>
              <a:srgbClr val="C75B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95000" y="1587500"/>
            <a:ext cx="4699000" cy="6350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95000" y="15875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763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49000" y="3175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rgbClr val="1E1E1E"/>
                </a:solidFill>
                <a:latin typeface="Quattrocento Sans" pitchFamily="34" charset="0"/>
              </a:rPr>
              <a:t>System</a:t>
            </a:r>
            <a:r>
              <a:rPr lang="en-US" dirty="0">
                <a:solidFill>
                  <a:srgbClr val="1E1E1E"/>
                </a:solidFill>
                <a:latin typeface="Quattrocento Sans" pitchFamily="34" charset="0"/>
              </a:rPr>
              <a:t> retrieves, drafts, tests, and flags</a:t>
            </a:r>
          </a:p>
          <a:p>
            <a:pPr algn="ctr">
              <a:lnSpc>
                <a:spcPct val="160000"/>
              </a:lnSpc>
            </a:pPr>
            <a:r>
              <a:rPr lang="en-US" dirty="0">
                <a:solidFill>
                  <a:srgbClr val="1E1E1E"/>
                </a:solidFill>
                <a:latin typeface="Quattrocento Sans" pitchFamily="34" charset="0"/>
              </a:rPr>
              <a:t> </a:t>
            </a: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End-to-end automation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Auditable output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Human-in-the-loop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95000" y="7175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▲ This is what I built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5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 POC: ARCHITECTURE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2286000"/>
            <a:ext cx="2159000" cy="1016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2286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1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2476500"/>
            <a:ext cx="1778000" cy="635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29000" y="2476500"/>
            <a:ext cx="1778000" cy="6350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207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0" y="2286000"/>
            <a:ext cx="1778000" cy="10160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5000" y="2286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3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01000" y="2286000"/>
            <a:ext cx="1778000" cy="10160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0" y="2286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79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2286000"/>
            <a:ext cx="2159000" cy="101600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87000" y="2286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ADJUDICATION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446000" y="2667000"/>
            <a:ext cx="508000" cy="0"/>
          </a:xfrm>
          <a:prstGeom prst="straightConnector1">
            <a:avLst/>
          </a:prstGeom>
          <a:noFill/>
          <a:ln w="25400">
            <a:solidFill>
              <a:srgbClr val="4A556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954000" y="2286000"/>
            <a:ext cx="2540000" cy="101600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954000" y="2286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/ DENY / REVIEW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CITATIONS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2000" y="406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Design: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handles </a:t>
            </a:r>
            <a:r>
              <a:rPr lang="en-US" sz="1800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 and extraction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deterministic engine handles </a:t>
            </a:r>
            <a:r>
              <a:rPr lang="en-US" sz="18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adjudication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588000" y="5016500"/>
            <a:ext cx="508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2000" y="5334000"/>
            <a:ext cx="4572000" cy="165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16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98600" y="5524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Retrieval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59690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</a:rPr>
              <a:t>Searches policy documents with semantic matching and relevance scoring</a:t>
            </a:r>
          </a:p>
        </p:txBody>
      </p:sp>
      <p:sp>
        <p:nvSpPr>
          <p:cNvPr id="35" name="Shape 33"/>
          <p:cNvSpPr/>
          <p:nvPr/>
        </p:nvSpPr>
        <p:spPr>
          <a:xfrm>
            <a:off x="5715000" y="5334000"/>
            <a:ext cx="4572000" cy="165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69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42796" y="205303"/>
                </a:moveTo>
                <a:cubicBezTo>
                  <a:pt x="150760" y="198289"/>
                  <a:pt x="149741" y="187801"/>
                  <a:pt x="140388" y="181828"/>
                </a:cubicBezTo>
                <a:cubicBezTo>
                  <a:pt x="131035" y="175855"/>
                  <a:pt x="117052" y="176619"/>
                  <a:pt x="109088" y="183634"/>
                </a:cubicBezTo>
                <a:lnTo>
                  <a:pt x="64638" y="222528"/>
                </a:lnTo>
                <a:cubicBezTo>
                  <a:pt x="57507" y="228779"/>
                  <a:pt x="57507" y="237946"/>
                  <a:pt x="64638" y="244197"/>
                </a:cubicBezTo>
                <a:lnTo>
                  <a:pt x="109088" y="283091"/>
                </a:lnTo>
                <a:cubicBezTo>
                  <a:pt x="117052" y="290106"/>
                  <a:pt x="131128" y="290870"/>
                  <a:pt x="140388" y="284897"/>
                </a:cubicBezTo>
                <a:cubicBezTo>
                  <a:pt x="149648" y="278924"/>
                  <a:pt x="150760" y="268367"/>
                  <a:pt x="142796" y="261422"/>
                </a:cubicBezTo>
                <a:lnTo>
                  <a:pt x="110755" y="233363"/>
                </a:lnTo>
                <a:lnTo>
                  <a:pt x="142796" y="205303"/>
                </a:lnTo>
                <a:close/>
                <a:moveTo>
                  <a:pt x="246512" y="183634"/>
                </a:moveTo>
                <a:cubicBezTo>
                  <a:pt x="238548" y="176619"/>
                  <a:pt x="224473" y="175855"/>
                  <a:pt x="215212" y="181828"/>
                </a:cubicBezTo>
                <a:cubicBezTo>
                  <a:pt x="205952" y="187801"/>
                  <a:pt x="204840" y="198358"/>
                  <a:pt x="212804" y="205303"/>
                </a:cubicBezTo>
                <a:lnTo>
                  <a:pt x="244845" y="233363"/>
                </a:lnTo>
                <a:lnTo>
                  <a:pt x="212804" y="261422"/>
                </a:lnTo>
                <a:cubicBezTo>
                  <a:pt x="204840" y="268436"/>
                  <a:pt x="205859" y="278924"/>
                  <a:pt x="215212" y="284897"/>
                </a:cubicBezTo>
                <a:cubicBezTo>
                  <a:pt x="224565" y="290870"/>
                  <a:pt x="238548" y="290106"/>
                  <a:pt x="246512" y="283091"/>
                </a:cubicBezTo>
                <a:lnTo>
                  <a:pt x="290962" y="244197"/>
                </a:lnTo>
                <a:cubicBezTo>
                  <a:pt x="298093" y="237946"/>
                  <a:pt x="298093" y="228779"/>
                  <a:pt x="290962" y="222528"/>
                </a:cubicBezTo>
                <a:lnTo>
                  <a:pt x="246512" y="183634"/>
                </a:lnTo>
                <a:close/>
              </a:path>
            </a:pathLst>
          </a:cu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51600" y="5524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Rule Output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69000" y="59690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</a:rPr>
              <a:t>Produces JSON rules with conditions, actions, exceptions, and source citations</a:t>
            </a:r>
          </a:p>
        </p:txBody>
      </p:sp>
      <p:sp>
        <p:nvSpPr>
          <p:cNvPr id="39" name="Shape 37"/>
          <p:cNvSpPr/>
          <p:nvPr/>
        </p:nvSpPr>
        <p:spPr>
          <a:xfrm>
            <a:off x="10668000" y="5334000"/>
            <a:ext cx="4826000" cy="165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22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6529"/>
                </a:moveTo>
                <a:cubicBezTo>
                  <a:pt x="229265" y="-2153"/>
                  <a:pt x="215166" y="-2153"/>
                  <a:pt x="206484" y="6529"/>
                </a:cubicBezTo>
                <a:cubicBezTo>
                  <a:pt x="197803" y="15210"/>
                  <a:pt x="197803" y="29309"/>
                  <a:pt x="206484" y="37991"/>
                </a:cubicBezTo>
                <a:lnTo>
                  <a:pt x="213013" y="44450"/>
                </a:lnTo>
                <a:lnTo>
                  <a:pt x="19516" y="237946"/>
                </a:lnTo>
                <a:cubicBezTo>
                  <a:pt x="7015" y="250448"/>
                  <a:pt x="0" y="267395"/>
                  <a:pt x="0" y="28510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70495" y="355600"/>
                </a:lnTo>
                <a:cubicBezTo>
                  <a:pt x="88205" y="355600"/>
                  <a:pt x="105152" y="348585"/>
                  <a:pt x="117654" y="336084"/>
                </a:cubicBezTo>
                <a:lnTo>
                  <a:pt x="311150" y="142587"/>
                </a:lnTo>
                <a:lnTo>
                  <a:pt x="317679" y="149116"/>
                </a:lnTo>
                <a:cubicBezTo>
                  <a:pt x="326360" y="157797"/>
                  <a:pt x="340459" y="157797"/>
                  <a:pt x="349141" y="149116"/>
                </a:cubicBezTo>
                <a:cubicBezTo>
                  <a:pt x="357823" y="140434"/>
                  <a:pt x="357823" y="126335"/>
                  <a:pt x="349141" y="117654"/>
                </a:cubicBezTo>
                <a:lnTo>
                  <a:pt x="238016" y="6529"/>
                </a:lnTo>
                <a:close/>
                <a:moveTo>
                  <a:pt x="142587" y="177800"/>
                </a:moveTo>
                <a:lnTo>
                  <a:pt x="244475" y="75912"/>
                </a:lnTo>
                <a:lnTo>
                  <a:pt x="279688" y="111125"/>
                </a:lnTo>
                <a:lnTo>
                  <a:pt x="213013" y="177800"/>
                </a:lnTo>
                <a:lnTo>
                  <a:pt x="142518" y="17780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4046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Auditable Decisions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22000" y="5969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rules against sample claims, then returns PAY / DENY / REVIEW cited to the policy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77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0" y="3048000"/>
            <a:ext cx="2540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3000" y="3429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kern="0" spc="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6858000" y="4699000"/>
            <a:ext cx="2540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48000" y="508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  →  EXTRACTION  →  ADJUDICATION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77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74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DEMO SHOWS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315850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2019631"/>
            <a:ext cx="4699000" cy="330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2500" y="2654631"/>
            <a:ext cx="431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5448631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Policy Retrieval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78500" y="1733833"/>
            <a:ext cx="4699000" cy="35877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78500" y="5448631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Structured Rule (JSON)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95000" y="1733833"/>
            <a:ext cx="4699000" cy="3587798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95000" y="5448631"/>
            <a:ext cx="469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Adjudication + Citations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2000" y="6293091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decision is traceable to specific policy language — enabling auditability and analyst oversight.</a:t>
            </a:r>
            <a:endParaRPr lang="en-US" sz="1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B1BDE7E-99FC-F901-79ED-BCE01DCCC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1733833"/>
            <a:ext cx="4836346" cy="358779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5633E94-C266-BB55-8B79-58AF0D11A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00" y="1733833"/>
            <a:ext cx="4699000" cy="358779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5E20181-7968-9674-73E9-9DBCFB1B4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0" y="1733833"/>
            <a:ext cx="4698999" cy="35877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9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RECOMMENDATION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1524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a human-in-the-loop policy-to-rule copilot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2667000"/>
            <a:ext cx="469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2000" y="2667000"/>
            <a:ext cx="63500" cy="4191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27940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4191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Automates the full pipeline from policy documents to executable rules: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retrieval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source policies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drafting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structured formats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 flagging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analyst review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Analysts remain in control at every step.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2667000"/>
            <a:ext cx="469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8500" y="2667000"/>
            <a:ext cx="63500" cy="41910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2500" y="27940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C75B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DESIGN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32500" y="3302000"/>
            <a:ext cx="4191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Separates concerns for risk management: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• </a:t>
            </a: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</a:rPr>
              <a:t>LLM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 handles handles interpretation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• </a:t>
            </a: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</a:rPr>
              <a:t>Rules engine 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handles recommended</a:t>
            </a:r>
            <a:r>
              <a:rPr lang="zh-CN" altLang="en-US" sz="1600" dirty="0">
                <a:solidFill>
                  <a:srgbClr val="1E1E1E"/>
                </a:solidFill>
                <a:latin typeface="Quattrocento Sans" pitchFamily="34" charset="0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decisions</a:t>
            </a: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</a:rPr>
              <a:t>This preserves auditability and consistency.</a:t>
            </a:r>
          </a:p>
        </p:txBody>
      </p:sp>
      <p:sp>
        <p:nvSpPr>
          <p:cNvPr id="22" name="Shape 20"/>
          <p:cNvSpPr/>
          <p:nvPr/>
        </p:nvSpPr>
        <p:spPr>
          <a:xfrm>
            <a:off x="10795000" y="2667000"/>
            <a:ext cx="4699000" cy="419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95000" y="2667000"/>
            <a:ext cx="63500" cy="419100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49000" y="27940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PHASE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049000" y="3302000"/>
            <a:ext cx="4191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Narrow policy domain (e.g., one coverage policy)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Validate outputs against existing manual rules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Expand coverage with analyst feedback loops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4: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 to production with human-in-the-loop governance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239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Aligns with Cotiviti's augmented intelligence principles: </a:t>
            </a:r>
            <a:r>
              <a:rPr lang="en-US" sz="1600" u="sng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augments human expertise, never replaces it.</a:t>
            </a:r>
            <a:endParaRPr lang="en-US" sz="1600" u="sng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32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0" y="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41000" y="508000"/>
            <a:ext cx="1270000" cy="381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r>
              <a:rPr lang="zh-CN" alt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altLang="zh-CN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</a:t>
            </a:r>
            <a:r>
              <a:rPr lang="zh-CN" alt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</a:t>
            </a:r>
            <a:r>
              <a:rPr lang="en-US" altLang="zh-CN" sz="2800" b="1" kern="0" spc="200" dirty="0">
                <a:solidFill>
                  <a:srgbClr val="8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44600"/>
            <a:ext cx="1016000" cy="0"/>
          </a:xfrm>
          <a:prstGeom prst="straightConnector1">
            <a:avLst/>
          </a:prstGeom>
          <a:noFill/>
          <a:ln w="25400">
            <a:solidFill>
              <a:srgbClr val="8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175500" cy="571500"/>
          </a:xfrm>
          <a:prstGeom prst="rect">
            <a:avLst/>
          </a:prstGeom>
          <a:solidFill>
            <a:srgbClr val="8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524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2095500"/>
            <a:ext cx="7175500" cy="292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6000" y="2286000"/>
            <a:ext cx="6667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Cycle acceleratio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n: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AL BAYAN PLAIN" pitchFamily="2" charset="-78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faster policy-to-rule turnaround </a:t>
            </a: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Reduced improper payments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AL BAYAN PLAIN" pitchFamily="2" charset="-78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fewer documentation errors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  <a:cs typeface="Al Bayan Plain" pitchFamily="2" charset="-78"/>
            </a:endParaRP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Analyst augmentatio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n: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AL BAYAN PLAIN" pitchFamily="2" charset="-78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experts focus on complex cases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  <a:cs typeface="Al Bayan Plain" pitchFamily="2" charset="-78"/>
            </a:endParaRPr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Full auditabilit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y: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AL BAYAN PLAIN" pitchFamily="2" charset="-78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l Bayan Plain" pitchFamily="2" charset="-78"/>
              </a:rPr>
              <a:t>every decision traces to source policy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  <a:cs typeface="Al Bayan Plain" pitchFamily="2" charset="-7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18500" y="1524000"/>
            <a:ext cx="7175500" cy="571500"/>
          </a:xfrm>
          <a:prstGeom prst="rect">
            <a:avLst/>
          </a:prstGeom>
          <a:solidFill>
            <a:srgbClr val="C75B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18500" y="15240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18500" y="2095500"/>
            <a:ext cx="7175500" cy="292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72500" y="2286000"/>
            <a:ext cx="6667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75B1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Extraction accurac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y: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LLM may misinterpret nuanced policy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75B1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Requires human-in-the-loo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p: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not fully autonomous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75B1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Governance overhead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model versioning and revalidation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C75B1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▸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Model drif</a:t>
            </a:r>
            <a:r>
              <a:rPr lang="en-US" altLang="zh-CN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t:</a:t>
            </a:r>
            <a:r>
              <a:rPr lang="zh-CN" altLang="en-US" sz="1600" b="1" dirty="0">
                <a:solidFill>
                  <a:srgbClr val="1E1E1E"/>
                </a:solidFill>
                <a:latin typeface="Apple SD Gothic Neo" panose="02000300000000000000" pitchFamily="2" charset="-127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1E1E1E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Quattrocento Sans" pitchFamily="34" charset="-120"/>
              </a:rPr>
              <a:t>policy changes may degrade performance</a:t>
            </a:r>
            <a:endParaRPr lang="en-US" sz="16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5461000"/>
            <a:ext cx="14732000" cy="15240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70000" y="5588000"/>
            <a:ext cx="137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Responsible, near-term, and I built a working prototype to prove it.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40000" y="6350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·  </a:t>
            </a:r>
            <a:r>
              <a:rPr lang="en-US"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· nicoleshen09@gmail.com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7429500"/>
            <a:ext cx="2540000" cy="0"/>
          </a:xfrm>
          <a:prstGeom prst="straightConnector1">
            <a:avLst/>
          </a:prstGeom>
          <a:noFill/>
          <a:ln w="25400">
            <a:solidFill>
              <a:srgbClr val="C75B1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88000" y="762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586</Words>
  <Application>Microsoft Macintosh PowerPoint</Application>
  <PresentationFormat>Custom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LANTINGHEI SC DEMIBOLD</vt:lpstr>
      <vt:lpstr>Apple SD Gothic Neo</vt:lpstr>
      <vt:lpstr>Arial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Healthcare Content Management</dc:title>
  <dc:subject>Agentic AI for Healthcare Content Management</dc:subject>
  <dc:creator>Kimi</dc:creator>
  <cp:lastModifiedBy>Shen, Yue</cp:lastModifiedBy>
  <cp:revision>3</cp:revision>
  <dcterms:created xsi:type="dcterms:W3CDTF">2026-07-08T18:12:34Z</dcterms:created>
  <dcterms:modified xsi:type="dcterms:W3CDTF">2026-07-08T19:39:03Z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{"Label":"Agentic AI for Healthcare Content Management","ContentProducer":"001191110108MACG2KBH8F10000","ProduceID":"19f425ac-7a42-8287-8000-0000d07b0ecd","ReservedCode1":"","ContentPropagator":"001191110108MACG2KBH8F20000","PropagateID":"19f42570-e0d2-8ce6-8000-0965acede24f","ReservedCode2":""}</vt:lpwstr>
  </property>
</Properties>
</file>